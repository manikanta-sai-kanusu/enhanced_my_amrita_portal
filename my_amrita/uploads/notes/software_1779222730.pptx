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8" r:id="rId2"/>
    <p:sldId id="366" r:id="rId3"/>
    <p:sldId id="328" r:id="rId4"/>
    <p:sldId id="352" r:id="rId5"/>
    <p:sldId id="353" r:id="rId6"/>
    <p:sldId id="354" r:id="rId7"/>
    <p:sldId id="357" r:id="rId8"/>
    <p:sldId id="358" r:id="rId9"/>
    <p:sldId id="359" r:id="rId10"/>
    <p:sldId id="360" r:id="rId11"/>
    <p:sldId id="361" r:id="rId12"/>
    <p:sldId id="362" r:id="rId13"/>
    <p:sldId id="363" r:id="rId14"/>
    <p:sldId id="356" r:id="rId15"/>
    <p:sldId id="336" r:id="rId16"/>
    <p:sldId id="337" r:id="rId17"/>
    <p:sldId id="338" r:id="rId18"/>
    <p:sldId id="339" r:id="rId19"/>
    <p:sldId id="340" r:id="rId20"/>
    <p:sldId id="341" r:id="rId21"/>
    <p:sldId id="342" r:id="rId22"/>
    <p:sldId id="364" r:id="rId23"/>
    <p:sldId id="343" r:id="rId24"/>
    <p:sldId id="344" r:id="rId25"/>
    <p:sldId id="345" r:id="rId26"/>
    <p:sldId id="346" r:id="rId27"/>
    <p:sldId id="347" r:id="rId28"/>
    <p:sldId id="348" r:id="rId29"/>
    <p:sldId id="349" r:id="rId30"/>
    <p:sldId id="350" r:id="rId31"/>
    <p:sldId id="351" r:id="rId32"/>
  </p:sldIdLst>
  <p:sldSz cx="12192000" cy="6858000"/>
  <p:notesSz cx="7315200" cy="96012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35E8A835-B118-4D25-999E-5D524DAD68E9}" type="datetimeFigureOut">
              <a:rPr lang="en-US" smtClean="0"/>
              <a:t>2/1/2023</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2F138C07-FB08-4B24-A79A-A46519EE80D8}" type="slidenum">
              <a:rPr lang="en-US" smtClean="0"/>
              <a:t>‹#›</a:t>
            </a:fld>
            <a:endParaRPr lang="en-US"/>
          </a:p>
        </p:txBody>
      </p:sp>
    </p:spTree>
    <p:extLst>
      <p:ext uri="{BB962C8B-B14F-4D97-AF65-F5344CB8AC3E}">
        <p14:creationId xmlns:p14="http://schemas.microsoft.com/office/powerpoint/2010/main" val="4029625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E6785B9-1B66-4264-99CC-F68F6BC1EEEA}" type="datetimeFigureOut">
              <a:rPr lang="en-US"/>
              <a:pPr>
                <a:defRPr/>
              </a:pPr>
              <a:t>2/1/2023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292DB01-32B9-4E83-9011-B7B1FAD93826}" type="slidenum">
              <a:rPr lang="en-US"/>
              <a:pPr>
                <a:defRPr/>
              </a:pPr>
              <a:t>‹#›</a:t>
            </a:fld>
            <a:endParaRPr lang="en-US"/>
          </a:p>
        </p:txBody>
      </p:sp>
    </p:spTree>
    <p:extLst>
      <p:ext uri="{BB962C8B-B14F-4D97-AF65-F5344CB8AC3E}">
        <p14:creationId xmlns:p14="http://schemas.microsoft.com/office/powerpoint/2010/main" val="3168712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9500BA8-3FCE-41C2-B7E4-021D6F88D554}" type="datetimeFigureOut">
              <a:rPr lang="en-US"/>
              <a:pPr>
                <a:defRPr/>
              </a:pPr>
              <a:t>2/1/2023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509B033-F7B3-449F-87D2-760AB7A425E4}" type="slidenum">
              <a:rPr lang="en-US"/>
              <a:pPr>
                <a:defRPr/>
              </a:pPr>
              <a:t>‹#›</a:t>
            </a:fld>
            <a:endParaRPr lang="en-US"/>
          </a:p>
        </p:txBody>
      </p:sp>
    </p:spTree>
    <p:extLst>
      <p:ext uri="{BB962C8B-B14F-4D97-AF65-F5344CB8AC3E}">
        <p14:creationId xmlns:p14="http://schemas.microsoft.com/office/powerpoint/2010/main" val="2911330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95CA499B-1215-4FA5-B0FF-305CDB114162}" type="datetimeFigureOut">
              <a:rPr lang="en-US"/>
              <a:pPr>
                <a:defRPr/>
              </a:pPr>
              <a:t>2/1/2023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2A991BF-0A79-4055-BF5D-0883B6C75C72}" type="slidenum">
              <a:rPr lang="en-US"/>
              <a:pPr>
                <a:defRPr/>
              </a:pPr>
              <a:t>‹#›</a:t>
            </a:fld>
            <a:endParaRPr lang="en-US"/>
          </a:p>
        </p:txBody>
      </p:sp>
    </p:spTree>
    <p:extLst>
      <p:ext uri="{BB962C8B-B14F-4D97-AF65-F5344CB8AC3E}">
        <p14:creationId xmlns:p14="http://schemas.microsoft.com/office/powerpoint/2010/main" val="585595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F30EEF67-82B3-4C25-BE27-D2BC5E1EB03A}" type="datetimeFigureOut">
              <a:rPr lang="en-US"/>
              <a:pPr>
                <a:defRPr/>
              </a:pPr>
              <a:t>2/1/2023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C32DE54-6F93-4F38-803C-7F92DF460EE6}" type="slidenum">
              <a:rPr lang="en-US"/>
              <a:pPr>
                <a:defRPr/>
              </a:pPr>
              <a:t>‹#›</a:t>
            </a:fld>
            <a:endParaRPr lang="en-US"/>
          </a:p>
        </p:txBody>
      </p:sp>
    </p:spTree>
    <p:extLst>
      <p:ext uri="{BB962C8B-B14F-4D97-AF65-F5344CB8AC3E}">
        <p14:creationId xmlns:p14="http://schemas.microsoft.com/office/powerpoint/2010/main" val="4177287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B4FE712B-D711-4E9F-B27C-5AF5BF718355}" type="datetimeFigureOut">
              <a:rPr lang="en-US"/>
              <a:pPr>
                <a:defRPr/>
              </a:pPr>
              <a:t>2/1/2023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322DB4F7-1871-4987-8608-8E563AF8AA1F}" type="slidenum">
              <a:rPr lang="en-US"/>
              <a:pPr>
                <a:defRPr/>
              </a:pPr>
              <a:t>‹#›</a:t>
            </a:fld>
            <a:endParaRPr lang="en-US"/>
          </a:p>
        </p:txBody>
      </p:sp>
    </p:spTree>
    <p:extLst>
      <p:ext uri="{BB962C8B-B14F-4D97-AF65-F5344CB8AC3E}">
        <p14:creationId xmlns:p14="http://schemas.microsoft.com/office/powerpoint/2010/main" val="939889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326AF12A-8BD9-4640-BD67-5257B6ED26B0}" type="datetimeFigureOut">
              <a:rPr lang="en-US"/>
              <a:pPr>
                <a:defRPr/>
              </a:pPr>
              <a:t>2/1/2023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AD71EEF9-2050-401C-9CB7-699EDF5745BD}" type="slidenum">
              <a:rPr lang="en-US"/>
              <a:pPr>
                <a:defRPr/>
              </a:pPr>
              <a:t>‹#›</a:t>
            </a:fld>
            <a:endParaRPr lang="en-US"/>
          </a:p>
        </p:txBody>
      </p:sp>
    </p:spTree>
    <p:extLst>
      <p:ext uri="{BB962C8B-B14F-4D97-AF65-F5344CB8AC3E}">
        <p14:creationId xmlns:p14="http://schemas.microsoft.com/office/powerpoint/2010/main" val="243405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2C560B3-6079-4F22-9BDF-C6618EF9E06C}" type="datetimeFigureOut">
              <a:rPr lang="en-US"/>
              <a:pPr>
                <a:defRPr/>
              </a:pPr>
              <a:t>2/1/2023</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F8E96C4D-23FE-4842-8A8B-51BB8CAAF856}" type="slidenum">
              <a:rPr lang="en-US"/>
              <a:pPr>
                <a:defRPr/>
              </a:pPr>
              <a:t>‹#›</a:t>
            </a:fld>
            <a:endParaRPr lang="en-US"/>
          </a:p>
        </p:txBody>
      </p:sp>
    </p:spTree>
    <p:extLst>
      <p:ext uri="{BB962C8B-B14F-4D97-AF65-F5344CB8AC3E}">
        <p14:creationId xmlns:p14="http://schemas.microsoft.com/office/powerpoint/2010/main" val="3648809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9B12742A-BC9F-40EE-BB0A-66D96105F2BE}" type="datetimeFigureOut">
              <a:rPr lang="en-US"/>
              <a:pPr>
                <a:defRPr/>
              </a:pPr>
              <a:t>2/1/2023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D785C36-A63E-4AD9-925E-0CC0EBF98E67}" type="slidenum">
              <a:rPr lang="en-US"/>
              <a:pPr>
                <a:defRPr/>
              </a:pPr>
              <a:t>‹#›</a:t>
            </a:fld>
            <a:endParaRPr lang="en-US"/>
          </a:p>
        </p:txBody>
      </p:sp>
    </p:spTree>
    <p:extLst>
      <p:ext uri="{BB962C8B-B14F-4D97-AF65-F5344CB8AC3E}">
        <p14:creationId xmlns:p14="http://schemas.microsoft.com/office/powerpoint/2010/main" val="2077704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DAE921D5-DEDB-45CC-9F04-953D92C05AFA}" type="datetimeFigureOut">
              <a:rPr lang="en-US"/>
              <a:pPr>
                <a:defRPr/>
              </a:pPr>
              <a:t>2/1/2023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BD8AC7E-0994-4CE6-857A-00ACB5EDE0FE}" type="slidenum">
              <a:rPr lang="en-US"/>
              <a:pPr>
                <a:defRPr/>
              </a:pPr>
              <a:t>‹#›</a:t>
            </a:fld>
            <a:endParaRPr lang="en-US"/>
          </a:p>
        </p:txBody>
      </p:sp>
    </p:spTree>
    <p:extLst>
      <p:ext uri="{BB962C8B-B14F-4D97-AF65-F5344CB8AC3E}">
        <p14:creationId xmlns:p14="http://schemas.microsoft.com/office/powerpoint/2010/main" val="3435578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E4427B55-7AA6-40A7-8B97-854F6F742E76}" type="datetimeFigureOut">
              <a:rPr lang="en-US"/>
              <a:pPr>
                <a:defRPr/>
              </a:pPr>
              <a:t>2/1/2023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0395CDD-1F7D-4841-9852-4BD527209ECB}" type="slidenum">
              <a:rPr lang="en-US"/>
              <a:pPr>
                <a:defRPr/>
              </a:pPr>
              <a:t>‹#›</a:t>
            </a:fld>
            <a:endParaRPr lang="en-US"/>
          </a:p>
        </p:txBody>
      </p:sp>
    </p:spTree>
    <p:extLst>
      <p:ext uri="{BB962C8B-B14F-4D97-AF65-F5344CB8AC3E}">
        <p14:creationId xmlns:p14="http://schemas.microsoft.com/office/powerpoint/2010/main" val="2115031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386ECFE-9DEB-4DAA-8DA0-B7FC89D4B3D2}" type="datetimeFigureOut">
              <a:rPr lang="en-US"/>
              <a:pPr>
                <a:defRPr/>
              </a:pPr>
              <a:t>2/1/2023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FA891BF-F550-41BF-BB66-2484262FDB80}" type="slidenum">
              <a:rPr lang="en-US"/>
              <a:pPr>
                <a:defRPr/>
              </a:pPr>
              <a:t>‹#›</a:t>
            </a:fld>
            <a:endParaRPr lang="en-US"/>
          </a:p>
        </p:txBody>
      </p:sp>
    </p:spTree>
    <p:extLst>
      <p:ext uri="{BB962C8B-B14F-4D97-AF65-F5344CB8AC3E}">
        <p14:creationId xmlns:p14="http://schemas.microsoft.com/office/powerpoint/2010/main" val="3343922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pPr>
              <a:defRPr/>
            </a:pPr>
            <a:fld id="{D40B18B0-0463-49F4-A202-61617A9DC2D1}" type="datetimeFigureOut">
              <a:rPr lang="en-US"/>
              <a:pPr>
                <a:defRPr/>
              </a:pPr>
              <a:t>2/1/2023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pPr>
              <a:defRPr/>
            </a:pPr>
            <a:fld id="{1037C3FE-092D-4F2F-9260-33A8BF54D1A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confluence.atlassian.com/agile/glossary/sprint"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atlassian.com/agile/scrum/retrospective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atlassian.com/agile/scrum/sprints"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atlassian.com/agile/scrum/backlog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atlassian.com/agile/scrum/sprint-planning"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Content Placeholder 2"/>
          <p:cNvSpPr>
            <a:spLocks noGrp="1"/>
          </p:cNvSpPr>
          <p:nvPr>
            <p:ph idx="1"/>
          </p:nvPr>
        </p:nvSpPr>
        <p:spPr>
          <a:xfrm>
            <a:off x="838200" y="1046163"/>
            <a:ext cx="10515600" cy="5130800"/>
          </a:xfrm>
        </p:spPr>
        <p:txBody>
          <a:bodyPr/>
          <a:lstStyle/>
          <a:p>
            <a:pPr algn="just"/>
            <a:r>
              <a:rPr lang="en-US" altLang="en-US" dirty="0" smtClean="0"/>
              <a:t>Last Lecture:</a:t>
            </a:r>
          </a:p>
          <a:p>
            <a:r>
              <a:rPr lang="en-US" dirty="0"/>
              <a:t>Traditional Approach Vs Agile Approach</a:t>
            </a:r>
          </a:p>
          <a:p>
            <a:r>
              <a:rPr lang="en-US" dirty="0"/>
              <a:t>Agile Manifesto</a:t>
            </a:r>
          </a:p>
          <a:p>
            <a:r>
              <a:rPr lang="en-US" dirty="0"/>
              <a:t>Agile Methodology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3821"/>
          </a:xfrm>
        </p:spPr>
        <p:txBody>
          <a:bodyPr/>
          <a:lstStyle/>
          <a:p>
            <a:r>
              <a:rPr lang="en-US" dirty="0" smtClean="0"/>
              <a:t>Today’s Lecture</a:t>
            </a:r>
            <a:endParaRPr lang="en-US" dirty="0"/>
          </a:p>
        </p:txBody>
      </p:sp>
      <p:sp>
        <p:nvSpPr>
          <p:cNvPr id="3" name="Content Placeholder 2"/>
          <p:cNvSpPr>
            <a:spLocks noGrp="1"/>
          </p:cNvSpPr>
          <p:nvPr>
            <p:ph idx="1"/>
          </p:nvPr>
        </p:nvSpPr>
        <p:spPr>
          <a:xfrm>
            <a:off x="838200" y="1171977"/>
            <a:ext cx="10515600" cy="5004986"/>
          </a:xfrm>
        </p:spPr>
        <p:txBody>
          <a:bodyPr/>
          <a:lstStyle/>
          <a:p>
            <a:r>
              <a:rPr lang="en-US" dirty="0" smtClean="0"/>
              <a:t>Agile </a:t>
            </a:r>
            <a:r>
              <a:rPr lang="en-US" dirty="0" smtClean="0"/>
              <a:t>Scrum Framework in detail</a:t>
            </a:r>
          </a:p>
          <a:p>
            <a:endParaRPr lang="en-US" dirty="0"/>
          </a:p>
        </p:txBody>
      </p:sp>
    </p:spTree>
    <p:extLst>
      <p:ext uri="{BB962C8B-B14F-4D97-AF65-F5344CB8AC3E}">
        <p14:creationId xmlns:p14="http://schemas.microsoft.com/office/powerpoint/2010/main" val="2111269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a:xfrm>
            <a:off x="838200" y="365125"/>
            <a:ext cx="10515600" cy="730250"/>
          </a:xfrm>
        </p:spPr>
        <p:txBody>
          <a:bodyPr/>
          <a:lstStyle/>
          <a:p>
            <a:r>
              <a:rPr lang="en-US" altLang="en-US" smtClean="0"/>
              <a:t>Scrum –in Detail</a:t>
            </a:r>
          </a:p>
        </p:txBody>
      </p:sp>
      <p:sp>
        <p:nvSpPr>
          <p:cNvPr id="55299" name="Content Placeholder 2"/>
          <p:cNvSpPr>
            <a:spLocks noGrp="1"/>
          </p:cNvSpPr>
          <p:nvPr>
            <p:ph idx="1"/>
          </p:nvPr>
        </p:nvSpPr>
        <p:spPr>
          <a:xfrm>
            <a:off x="838200" y="1287463"/>
            <a:ext cx="10515600" cy="4889500"/>
          </a:xfrm>
        </p:spPr>
        <p:txBody>
          <a:bodyPr/>
          <a:lstStyle/>
          <a:p>
            <a:pPr algn="just"/>
            <a:r>
              <a:rPr lang="en-US" altLang="en-US" smtClean="0"/>
              <a:t>The scrum framework is heuristic; it’s based on </a:t>
            </a:r>
            <a:r>
              <a:rPr lang="en-US" altLang="en-US" b="1" smtClean="0"/>
              <a:t>continuous learning </a:t>
            </a:r>
            <a:r>
              <a:rPr lang="en-US" altLang="en-US" smtClean="0"/>
              <a:t>and adjustment to fluctuating factors. It acknowledges that the team doesn’t know everything at the start of a project and will evolve through experience. </a:t>
            </a:r>
          </a:p>
          <a:p>
            <a:pPr algn="just"/>
            <a:r>
              <a:rPr lang="en-US" altLang="en-US" smtClean="0"/>
              <a:t>Scrum is </a:t>
            </a:r>
            <a:r>
              <a:rPr lang="en-US" altLang="en-US" b="1" smtClean="0"/>
              <a:t>structured to help teams naturally adapt to changing conditions and user requirements</a:t>
            </a:r>
            <a:r>
              <a:rPr lang="en-US" altLang="en-US" smtClean="0"/>
              <a:t>, with re-prioritization built into the process and short release cycles so your team can constantly learn and improve.</a:t>
            </a:r>
          </a:p>
          <a:p>
            <a:pPr algn="just"/>
            <a:r>
              <a:rPr lang="en-US" altLang="en-US" smtClean="0"/>
              <a:t>While </a:t>
            </a:r>
            <a:r>
              <a:rPr lang="en-US" altLang="en-US" b="1" smtClean="0"/>
              <a:t>scrum is structured, it is not entirely rigid</a:t>
            </a:r>
            <a:r>
              <a:rPr lang="en-US" altLang="en-US" smtClean="0"/>
              <a:t>. Its execution can be tailored to the needs of any organization. There are many theories about how exactly scrum teams must work in order to be successful.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descr="The Agile Scrum Framework"/>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55738" y="1017588"/>
            <a:ext cx="9350375" cy="5159375"/>
          </a:xfr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695325" y="219075"/>
            <a:ext cx="10148888" cy="5280025"/>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068388" y="515938"/>
            <a:ext cx="9531350" cy="5419725"/>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5463"/>
          </a:xfrm>
        </p:spPr>
        <p:txBody>
          <a:bodyPr rtlCol="0">
            <a:normAutofit fontScale="90000"/>
          </a:bodyPr>
          <a:lstStyle/>
          <a:p>
            <a:pPr fontAlgn="auto">
              <a:spcAft>
                <a:spcPts val="0"/>
              </a:spcAft>
              <a:defRPr/>
            </a:pPr>
            <a:r>
              <a:rPr lang="en-US" dirty="0"/>
              <a:t>Three essential roles for scrum success</a:t>
            </a:r>
            <a:br>
              <a:rPr lang="en-US" dirty="0"/>
            </a:br>
            <a:endParaRPr lang="en-US" dirty="0"/>
          </a:p>
        </p:txBody>
      </p:sp>
      <p:sp>
        <p:nvSpPr>
          <p:cNvPr id="3" name="Content Placeholder 2"/>
          <p:cNvSpPr>
            <a:spLocks noGrp="1"/>
          </p:cNvSpPr>
          <p:nvPr>
            <p:ph idx="1"/>
          </p:nvPr>
        </p:nvSpPr>
        <p:spPr>
          <a:xfrm>
            <a:off x="838200" y="1071563"/>
            <a:ext cx="10515600" cy="5105400"/>
          </a:xfrm>
        </p:spPr>
        <p:txBody>
          <a:bodyPr rtlCol="0">
            <a:normAutofit/>
          </a:bodyPr>
          <a:lstStyle/>
          <a:p>
            <a:pPr fontAlgn="auto">
              <a:spcAft>
                <a:spcPts val="0"/>
              </a:spcAft>
              <a:defRPr/>
            </a:pPr>
            <a:r>
              <a:rPr lang="en-US" dirty="0"/>
              <a:t>A scrum team needs three specific roles: </a:t>
            </a:r>
            <a:endParaRPr lang="en-US" dirty="0" smtClean="0"/>
          </a:p>
          <a:p>
            <a:pPr fontAlgn="auto">
              <a:spcAft>
                <a:spcPts val="0"/>
              </a:spcAft>
              <a:defRPr/>
            </a:pPr>
            <a:r>
              <a:rPr lang="en-US" dirty="0" smtClean="0">
                <a:solidFill>
                  <a:srgbClr val="FF0000"/>
                </a:solidFill>
              </a:rPr>
              <a:t>product </a:t>
            </a:r>
            <a:r>
              <a:rPr lang="en-US" dirty="0">
                <a:solidFill>
                  <a:srgbClr val="FF0000"/>
                </a:solidFill>
              </a:rPr>
              <a:t>owner</a:t>
            </a:r>
            <a:r>
              <a:rPr lang="en-US" dirty="0"/>
              <a:t>, </a:t>
            </a:r>
            <a:endParaRPr lang="en-US" dirty="0" smtClean="0"/>
          </a:p>
          <a:p>
            <a:pPr fontAlgn="auto">
              <a:spcAft>
                <a:spcPts val="0"/>
              </a:spcAft>
              <a:defRPr/>
            </a:pPr>
            <a:r>
              <a:rPr lang="en-US" dirty="0" smtClean="0">
                <a:solidFill>
                  <a:srgbClr val="FF0000"/>
                </a:solidFill>
              </a:rPr>
              <a:t>scrum </a:t>
            </a:r>
            <a:r>
              <a:rPr lang="en-US" dirty="0">
                <a:solidFill>
                  <a:srgbClr val="FF0000"/>
                </a:solidFill>
              </a:rPr>
              <a:t>master</a:t>
            </a:r>
            <a:r>
              <a:rPr lang="en-US" dirty="0"/>
              <a:t>, and </a:t>
            </a:r>
            <a:endParaRPr lang="en-US" dirty="0" smtClean="0"/>
          </a:p>
          <a:p>
            <a:pPr fontAlgn="auto">
              <a:spcAft>
                <a:spcPts val="0"/>
              </a:spcAft>
              <a:defRPr/>
            </a:pPr>
            <a:r>
              <a:rPr lang="en-US" dirty="0" smtClean="0">
                <a:solidFill>
                  <a:srgbClr val="FF0000"/>
                </a:solidFill>
              </a:rPr>
              <a:t>the </a:t>
            </a:r>
            <a:r>
              <a:rPr lang="en-US" dirty="0">
                <a:solidFill>
                  <a:srgbClr val="FF0000"/>
                </a:solidFill>
              </a:rPr>
              <a:t>development team</a:t>
            </a:r>
            <a:r>
              <a:rPr lang="en-US" dirty="0"/>
              <a:t>. </a:t>
            </a:r>
            <a:r>
              <a:rPr lang="en-US" dirty="0" smtClean="0"/>
              <a:t>[Scrum Team]</a:t>
            </a:r>
          </a:p>
          <a:p>
            <a:pPr marL="0" indent="0" fontAlgn="auto">
              <a:spcAft>
                <a:spcPts val="0"/>
              </a:spcAft>
              <a:buFont typeface="Arial" panose="020B0604020202020204" pitchFamily="34" charset="0"/>
              <a:buNone/>
              <a:defRPr/>
            </a:pPr>
            <a:r>
              <a:rPr lang="en-US" dirty="0" smtClean="0"/>
              <a:t>And </a:t>
            </a:r>
            <a:r>
              <a:rPr lang="en-US" dirty="0"/>
              <a:t>because scrum teams are cross-functional, the development team includes testers, designers, UX specialists, and ops engineers in addition to developers.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463" y="365125"/>
            <a:ext cx="10515600" cy="1187450"/>
          </a:xfrm>
        </p:spPr>
        <p:txBody>
          <a:bodyPr rtlCol="0">
            <a:normAutofit fontScale="90000"/>
          </a:bodyPr>
          <a:lstStyle/>
          <a:p>
            <a:pPr fontAlgn="auto">
              <a:spcAft>
                <a:spcPts val="0"/>
              </a:spcAft>
              <a:defRPr/>
            </a:pPr>
            <a:r>
              <a:rPr lang="en-US" dirty="0"/>
              <a:t>The scrum product </a:t>
            </a:r>
            <a:r>
              <a:rPr lang="en-US" dirty="0" smtClean="0"/>
              <a:t>owner-</a:t>
            </a:r>
            <a:r>
              <a:rPr lang="en-US" dirty="0"/>
              <a:t>Setting clear direction</a:t>
            </a:r>
            <a:br>
              <a:rPr lang="en-US" dirty="0"/>
            </a:br>
            <a:r>
              <a:rPr lang="en-US" dirty="0"/>
              <a:t/>
            </a:r>
            <a:br>
              <a:rPr lang="en-US" dirty="0"/>
            </a:br>
            <a:r>
              <a:rPr lang="en-US" dirty="0" smtClean="0"/>
              <a:t> </a:t>
            </a:r>
            <a:endParaRPr lang="en-US" dirty="0"/>
          </a:p>
        </p:txBody>
      </p:sp>
      <p:sp>
        <p:nvSpPr>
          <p:cNvPr id="3" name="Content Placeholder 2"/>
          <p:cNvSpPr>
            <a:spLocks noGrp="1"/>
          </p:cNvSpPr>
          <p:nvPr>
            <p:ph idx="1"/>
          </p:nvPr>
        </p:nvSpPr>
        <p:spPr>
          <a:xfrm>
            <a:off x="838200" y="890588"/>
            <a:ext cx="10515600" cy="5286375"/>
          </a:xfrm>
        </p:spPr>
        <p:txBody>
          <a:bodyPr rtlCol="0">
            <a:normAutofit/>
          </a:bodyPr>
          <a:lstStyle/>
          <a:p>
            <a:pPr algn="just">
              <a:spcAft>
                <a:spcPts val="0"/>
              </a:spcAft>
              <a:defRPr/>
            </a:pPr>
            <a:r>
              <a:rPr lang="en-US" dirty="0">
                <a:solidFill>
                  <a:srgbClr val="FF0000"/>
                </a:solidFill>
              </a:rPr>
              <a:t>Product owners are the champions for their product</a:t>
            </a:r>
            <a:r>
              <a:rPr lang="en-US" dirty="0"/>
              <a:t>. They are focused on understanding business, customer, and market requirements, then prioritizing the work to be done by the engineering team accordingly. </a:t>
            </a:r>
            <a:endParaRPr lang="en-US" dirty="0" smtClean="0"/>
          </a:p>
          <a:p>
            <a:pPr marL="0" indent="0" algn="just">
              <a:spcAft>
                <a:spcPts val="0"/>
              </a:spcAft>
              <a:buFont typeface="Arial" panose="020B0604020202020204" pitchFamily="34" charset="0"/>
              <a:buNone/>
              <a:defRPr/>
            </a:pPr>
            <a:endParaRPr lang="en-US" dirty="0"/>
          </a:p>
        </p:txBody>
      </p:sp>
      <p:pic>
        <p:nvPicPr>
          <p:cNvPr id="60420"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474913"/>
            <a:ext cx="7386638" cy="33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5463"/>
          </a:xfrm>
        </p:spPr>
        <p:txBody>
          <a:bodyPr rtlCol="0">
            <a:normAutofit fontScale="90000"/>
          </a:bodyPr>
          <a:lstStyle/>
          <a:p>
            <a:pPr fontAlgn="auto">
              <a:spcAft>
                <a:spcPts val="0"/>
              </a:spcAft>
              <a:defRPr/>
            </a:pPr>
            <a:r>
              <a:rPr lang="en-US" dirty="0"/>
              <a:t>The scrum product owner</a:t>
            </a:r>
            <a:br>
              <a:rPr lang="en-US" dirty="0"/>
            </a:br>
            <a:endParaRPr lang="en-US" dirty="0"/>
          </a:p>
        </p:txBody>
      </p:sp>
      <p:sp>
        <p:nvSpPr>
          <p:cNvPr id="3" name="Content Placeholder 2"/>
          <p:cNvSpPr>
            <a:spLocks noGrp="1"/>
          </p:cNvSpPr>
          <p:nvPr>
            <p:ph idx="1"/>
          </p:nvPr>
        </p:nvSpPr>
        <p:spPr>
          <a:xfrm>
            <a:off x="838200" y="890588"/>
            <a:ext cx="10515600" cy="5286375"/>
          </a:xfrm>
        </p:spPr>
        <p:txBody>
          <a:bodyPr rtlCol="0">
            <a:normAutofit lnSpcReduction="10000"/>
          </a:bodyPr>
          <a:lstStyle/>
          <a:p>
            <a:pPr marL="0" indent="0" algn="just">
              <a:spcAft>
                <a:spcPts val="0"/>
              </a:spcAft>
              <a:buFont typeface="Arial" panose="020B0604020202020204" pitchFamily="34" charset="0"/>
              <a:buNone/>
              <a:defRPr/>
            </a:pPr>
            <a:r>
              <a:rPr lang="en-US" dirty="0" smtClean="0"/>
              <a:t> </a:t>
            </a:r>
            <a:r>
              <a:rPr lang="en-US" dirty="0"/>
              <a:t>Effective product owners:</a:t>
            </a:r>
          </a:p>
          <a:p>
            <a:pPr algn="just">
              <a:spcAft>
                <a:spcPts val="0"/>
              </a:spcAft>
              <a:defRPr/>
            </a:pPr>
            <a:r>
              <a:rPr lang="en-US" dirty="0"/>
              <a:t>Build and manage the product backlog.</a:t>
            </a:r>
          </a:p>
          <a:p>
            <a:pPr algn="just">
              <a:spcAft>
                <a:spcPts val="0"/>
              </a:spcAft>
              <a:defRPr/>
            </a:pPr>
            <a:r>
              <a:rPr lang="en-US" dirty="0"/>
              <a:t>Closely partner with the business and the team to ensure everyone understands the work items in the product backlog.</a:t>
            </a:r>
          </a:p>
          <a:p>
            <a:pPr algn="just">
              <a:spcAft>
                <a:spcPts val="0"/>
              </a:spcAft>
              <a:defRPr/>
            </a:pPr>
            <a:r>
              <a:rPr lang="en-US" dirty="0"/>
              <a:t>Give the team clear guidance on which features to deliver next.</a:t>
            </a:r>
          </a:p>
          <a:p>
            <a:pPr algn="just">
              <a:spcAft>
                <a:spcPts val="0"/>
              </a:spcAft>
              <a:defRPr/>
            </a:pPr>
            <a:r>
              <a:rPr lang="en-US" dirty="0"/>
              <a:t>Decide when to ship the product with a predisposition towards more frequent delivery.</a:t>
            </a:r>
          </a:p>
          <a:p>
            <a:pPr algn="just">
              <a:spcAft>
                <a:spcPts val="0"/>
              </a:spcAft>
              <a:defRPr/>
            </a:pPr>
            <a:r>
              <a:rPr lang="en-US" dirty="0"/>
              <a:t>The product owner is not always the product manager. Product owners focus on ensuring the development team delivers the most value to the business. Also, it's important that the product owner be an individual. No development team wants mixed guidance from multiple product owners.</a:t>
            </a:r>
          </a:p>
          <a:p>
            <a:pPr fontAlgn="auto">
              <a:spcAft>
                <a:spcPts val="0"/>
              </a:spcAft>
              <a:defRPr/>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3300"/>
            <a:ext cx="10515600" cy="392113"/>
          </a:xfrm>
        </p:spPr>
        <p:txBody>
          <a:bodyPr rtlCol="0">
            <a:normAutofit fontScale="90000"/>
          </a:bodyPr>
          <a:lstStyle/>
          <a:p>
            <a:pPr fontAlgn="auto">
              <a:spcAft>
                <a:spcPts val="0"/>
              </a:spcAft>
              <a:defRPr/>
            </a:pPr>
            <a:r>
              <a:rPr lang="en-US" dirty="0"/>
              <a:t>The scrum </a:t>
            </a:r>
            <a:r>
              <a:rPr lang="en-US" dirty="0" smtClean="0"/>
              <a:t>master-</a:t>
            </a:r>
            <a:r>
              <a:rPr lang="en-US" dirty="0"/>
              <a:t>Holding it all together</a:t>
            </a:r>
            <a:br>
              <a:rPr lang="en-US" dirty="0"/>
            </a:br>
            <a:r>
              <a:rPr lang="en-US" dirty="0"/>
              <a:t/>
            </a:r>
            <a:br>
              <a:rPr lang="en-US" dirty="0"/>
            </a:br>
            <a:endParaRPr lang="en-US" dirty="0"/>
          </a:p>
        </p:txBody>
      </p:sp>
      <p:sp>
        <p:nvSpPr>
          <p:cNvPr id="3" name="Content Placeholder 2"/>
          <p:cNvSpPr>
            <a:spLocks noGrp="1"/>
          </p:cNvSpPr>
          <p:nvPr>
            <p:ph idx="1"/>
          </p:nvPr>
        </p:nvSpPr>
        <p:spPr>
          <a:xfrm>
            <a:off x="838200" y="1011238"/>
            <a:ext cx="10515600" cy="5165725"/>
          </a:xfrm>
        </p:spPr>
        <p:txBody>
          <a:bodyPr rtlCol="0">
            <a:normAutofit/>
          </a:bodyPr>
          <a:lstStyle/>
          <a:p>
            <a:pPr algn="just">
              <a:spcAft>
                <a:spcPts val="0"/>
              </a:spcAft>
              <a:defRPr/>
            </a:pPr>
            <a:r>
              <a:rPr lang="en-US" dirty="0">
                <a:solidFill>
                  <a:srgbClr val="FF0000"/>
                </a:solidFill>
              </a:rPr>
              <a:t>Scrum masters are the champions for scrum within their teams</a:t>
            </a:r>
            <a:r>
              <a:rPr lang="en-US" dirty="0"/>
              <a:t>. They coach teams, product owners, and the business on the scrum process, and look for ways to fine-tune their practice of it.</a:t>
            </a:r>
          </a:p>
          <a:p>
            <a:pPr algn="just">
              <a:spcAft>
                <a:spcPts val="0"/>
              </a:spcAft>
              <a:defRPr/>
            </a:pPr>
            <a:r>
              <a:rPr lang="en-US" dirty="0"/>
              <a:t>An effective scrum master deeply understands the work being done by the team and can help the team optimize their transparency and delivery flow. </a:t>
            </a:r>
            <a:endParaRPr lang="en-US" dirty="0" smtClean="0"/>
          </a:p>
          <a:p>
            <a:pPr algn="just">
              <a:spcAft>
                <a:spcPts val="0"/>
              </a:spcAft>
              <a:defRPr/>
            </a:pPr>
            <a:r>
              <a:rPr lang="en-US" dirty="0" smtClean="0"/>
              <a:t>As </a:t>
            </a:r>
            <a:r>
              <a:rPr lang="en-US" dirty="0"/>
              <a:t>the facilitator-in-chief, he/she schedules the needed resources (both human and logistical) for sprint planning, stand-up, sprint review, and the sprint retrospective.</a:t>
            </a:r>
          </a:p>
          <a:p>
            <a:pPr marL="0" indent="0" algn="just" fontAlgn="auto">
              <a:spcAft>
                <a:spcPts val="0"/>
              </a:spcAft>
              <a:buFont typeface="Arial" panose="020B0604020202020204" pitchFamily="34" charset="0"/>
              <a:buNone/>
              <a:defRPr/>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3300"/>
            <a:ext cx="10515600" cy="392113"/>
          </a:xfrm>
        </p:spPr>
        <p:txBody>
          <a:bodyPr rtlCol="0">
            <a:normAutofit fontScale="90000"/>
          </a:bodyPr>
          <a:lstStyle/>
          <a:p>
            <a:pPr fontAlgn="auto">
              <a:spcAft>
                <a:spcPts val="0"/>
              </a:spcAft>
              <a:defRPr/>
            </a:pPr>
            <a:r>
              <a:rPr lang="en-US" dirty="0"/>
              <a:t>The scrum </a:t>
            </a:r>
            <a:r>
              <a:rPr lang="en-US" dirty="0" smtClean="0"/>
              <a:t>master-</a:t>
            </a:r>
            <a:r>
              <a:rPr lang="en-US" dirty="0"/>
              <a:t>Holding it all together</a:t>
            </a:r>
            <a:br>
              <a:rPr lang="en-US" dirty="0"/>
            </a:br>
            <a:r>
              <a:rPr lang="en-US" dirty="0"/>
              <a:t/>
            </a:r>
            <a:br>
              <a:rPr lang="en-US" dirty="0"/>
            </a:br>
            <a:endParaRPr lang="en-US" dirty="0"/>
          </a:p>
        </p:txBody>
      </p:sp>
      <p:pic>
        <p:nvPicPr>
          <p:cNvPr id="63491"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189163" y="1395413"/>
            <a:ext cx="7435850" cy="356235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6463"/>
            <a:ext cx="10515600" cy="441325"/>
          </a:xfrm>
        </p:spPr>
        <p:txBody>
          <a:bodyPr rtlCol="0">
            <a:normAutofit fontScale="90000"/>
          </a:bodyPr>
          <a:lstStyle/>
          <a:p>
            <a:pPr fontAlgn="auto">
              <a:spcAft>
                <a:spcPts val="0"/>
              </a:spcAft>
              <a:defRPr/>
            </a:pPr>
            <a:r>
              <a:rPr lang="en-US" dirty="0"/>
              <a:t>The scrum development </a:t>
            </a:r>
            <a:r>
              <a:rPr lang="en-US" dirty="0" smtClean="0"/>
              <a:t>team-</a:t>
            </a:r>
            <a:r>
              <a:rPr lang="en-US" dirty="0"/>
              <a:t>Redefining “developer”</a:t>
            </a:r>
            <a:br>
              <a:rPr lang="en-US" dirty="0"/>
            </a:br>
            <a:r>
              <a:rPr lang="en-US" dirty="0"/>
              <a:t/>
            </a:r>
            <a:br>
              <a:rPr lang="en-US" dirty="0"/>
            </a:br>
            <a:endParaRPr lang="en-US" dirty="0"/>
          </a:p>
        </p:txBody>
      </p:sp>
      <p:sp>
        <p:nvSpPr>
          <p:cNvPr id="64515" name="Content Placeholder 2"/>
          <p:cNvSpPr>
            <a:spLocks noGrp="1"/>
          </p:cNvSpPr>
          <p:nvPr>
            <p:ph idx="1"/>
          </p:nvPr>
        </p:nvSpPr>
        <p:spPr>
          <a:xfrm>
            <a:off x="838200" y="1781175"/>
            <a:ext cx="10515600" cy="5165725"/>
          </a:xfrm>
        </p:spPr>
        <p:txBody>
          <a:bodyPr/>
          <a:lstStyle/>
          <a:p>
            <a:r>
              <a:rPr lang="en-US" altLang="en-US" smtClean="0"/>
              <a:t>They are  </a:t>
            </a:r>
            <a:r>
              <a:rPr lang="en-US" altLang="en-US" smtClean="0">
                <a:solidFill>
                  <a:srgbClr val="FF0000"/>
                </a:solidFill>
              </a:rPr>
              <a:t>the champions for sustainable development </a:t>
            </a:r>
            <a:r>
              <a:rPr lang="en-US" altLang="en-US" smtClean="0"/>
              <a:t>practices. The most effective scrum teams are tight-knit, co-located, and usually five to seven members.</a:t>
            </a:r>
          </a:p>
          <a:p>
            <a:r>
              <a:rPr lang="en-US" altLang="en-US" smtClean="0">
                <a:solidFill>
                  <a:srgbClr val="FF0000"/>
                </a:solidFill>
              </a:rPr>
              <a:t>Team members have differing skill sets</a:t>
            </a:r>
            <a:r>
              <a:rPr lang="en-US" altLang="en-US" smtClean="0"/>
              <a:t>, and </a:t>
            </a:r>
            <a:r>
              <a:rPr lang="en-US" altLang="en-US" smtClean="0">
                <a:solidFill>
                  <a:srgbClr val="FF0000"/>
                </a:solidFill>
              </a:rPr>
              <a:t>cross-train each other </a:t>
            </a:r>
            <a:r>
              <a:rPr lang="en-US" altLang="en-US" smtClean="0"/>
              <a:t>so no one person becomes a bottleneck in the delivery of work. </a:t>
            </a:r>
            <a:r>
              <a:rPr lang="en-US" altLang="en-US" smtClean="0">
                <a:solidFill>
                  <a:srgbClr val="FF0000"/>
                </a:solidFill>
              </a:rPr>
              <a:t>Strong scrum teams are self-organising and approach their projects with a clear ‘we’ attitude</a:t>
            </a:r>
            <a:r>
              <a:rPr lang="en-US" altLang="en-US" smtClean="0"/>
              <a:t>.</a:t>
            </a:r>
          </a:p>
          <a:p>
            <a:r>
              <a:rPr lang="en-US" altLang="en-US" smtClean="0"/>
              <a:t> All members of the team help one another to ensure a successful sprint completion.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a:xfrm>
            <a:off x="838200" y="-663575"/>
            <a:ext cx="10515600" cy="1325563"/>
          </a:xfrm>
        </p:spPr>
        <p:txBody>
          <a:bodyPr/>
          <a:lstStyle/>
          <a:p>
            <a:endParaRPr lang="en-US" altLang="en-US" smtClean="0"/>
          </a:p>
        </p:txBody>
      </p:sp>
      <p:sp>
        <p:nvSpPr>
          <p:cNvPr id="65539" name="Content Placeholder 2"/>
          <p:cNvSpPr>
            <a:spLocks noGrp="1"/>
          </p:cNvSpPr>
          <p:nvPr>
            <p:ph idx="1"/>
          </p:nvPr>
        </p:nvSpPr>
        <p:spPr>
          <a:xfrm>
            <a:off x="838200" y="661988"/>
            <a:ext cx="10515600" cy="5514975"/>
          </a:xfrm>
        </p:spPr>
        <p:txBody>
          <a:bodyPr/>
          <a:lstStyle/>
          <a:p>
            <a:pPr algn="just"/>
            <a:r>
              <a:rPr lang="en-US" altLang="en-US" smtClean="0"/>
              <a:t>The scrum team drives the plan for each sprint. </a:t>
            </a:r>
          </a:p>
          <a:p>
            <a:pPr algn="just"/>
            <a:r>
              <a:rPr lang="en-US" altLang="en-US" smtClean="0"/>
              <a:t>They forecast how much work they believe they can complete over the iteration using their historical velocity as a guide. </a:t>
            </a:r>
          </a:p>
          <a:p>
            <a:pPr algn="just"/>
            <a:r>
              <a:rPr lang="en-US" altLang="en-US" smtClean="0"/>
              <a:t>Keeping the iteration length fixed gives the development team important feedback on their estimation and delivery process, which in turn makes their forecasts increasingly accurate over time.</a:t>
            </a:r>
          </a:p>
        </p:txBody>
      </p:sp>
      <p:pic>
        <p:nvPicPr>
          <p:cNvPr id="65540"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8763" y="3236913"/>
            <a:ext cx="7458075"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endParaRPr lang="en-US" altLang="en-US" smtClean="0"/>
          </a:p>
        </p:txBody>
      </p:sp>
      <p:pic>
        <p:nvPicPr>
          <p:cNvPr id="66563" name="Picture 2" descr="4 Key] Scrum Ceremonies in Agile Methodology - YouTub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08025" y="365125"/>
            <a:ext cx="10645775" cy="5811838"/>
          </a:xfr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a:xfrm>
            <a:off x="838200" y="365125"/>
            <a:ext cx="10515600" cy="717550"/>
          </a:xfrm>
        </p:spPr>
        <p:txBody>
          <a:bodyPr/>
          <a:lstStyle/>
          <a:p>
            <a:r>
              <a:rPr lang="en-US" altLang="en-US" smtClean="0"/>
              <a:t>Scrum ceremonies or events</a:t>
            </a:r>
          </a:p>
        </p:txBody>
      </p:sp>
      <p:sp>
        <p:nvSpPr>
          <p:cNvPr id="67587" name="Content Placeholder 2"/>
          <p:cNvSpPr>
            <a:spLocks noGrp="1"/>
          </p:cNvSpPr>
          <p:nvPr>
            <p:ph idx="1"/>
          </p:nvPr>
        </p:nvSpPr>
        <p:spPr>
          <a:xfrm>
            <a:off x="838200" y="1384300"/>
            <a:ext cx="10515600" cy="4792663"/>
          </a:xfrm>
        </p:spPr>
        <p:txBody>
          <a:bodyPr/>
          <a:lstStyle/>
          <a:p>
            <a:r>
              <a:rPr lang="en-US" altLang="en-US" smtClean="0"/>
              <a:t>Some of the more well-known components of the scrum framework are the set of sequential events, ceremonies, or meetings that scrum teams perform on a regular basis. The ceremonies are where we see the most variations for teams. For example, some teams find doing all of these ceremonies cumbersome and repetitive, while others use them as a necessary check-in.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5788"/>
          </a:xfrm>
        </p:spPr>
        <p:txBody>
          <a:bodyPr rtlCol="0">
            <a:normAutofit fontScale="90000"/>
          </a:bodyPr>
          <a:lstStyle/>
          <a:p>
            <a:pPr fontAlgn="auto">
              <a:spcAft>
                <a:spcPts val="0"/>
              </a:spcAft>
              <a:defRPr/>
            </a:pPr>
            <a:r>
              <a:rPr lang="en-US" dirty="0"/>
              <a:t>key </a:t>
            </a:r>
            <a:r>
              <a:rPr lang="en-US" dirty="0" smtClean="0"/>
              <a:t>events </a:t>
            </a:r>
            <a:r>
              <a:rPr lang="en-US" dirty="0"/>
              <a:t>a scrum team might partake in</a:t>
            </a:r>
          </a:p>
        </p:txBody>
      </p:sp>
      <p:sp>
        <p:nvSpPr>
          <p:cNvPr id="3" name="Content Placeholder 2"/>
          <p:cNvSpPr>
            <a:spLocks noGrp="1"/>
          </p:cNvSpPr>
          <p:nvPr>
            <p:ph idx="1"/>
          </p:nvPr>
        </p:nvSpPr>
        <p:spPr>
          <a:xfrm>
            <a:off x="838200" y="950913"/>
            <a:ext cx="10515600" cy="5226050"/>
          </a:xfrm>
        </p:spPr>
        <p:txBody>
          <a:bodyPr rtlCol="0">
            <a:normAutofit/>
          </a:bodyPr>
          <a:lstStyle/>
          <a:p>
            <a:pPr marL="0" indent="0" algn="just" fontAlgn="auto">
              <a:spcAft>
                <a:spcPts val="0"/>
              </a:spcAft>
              <a:buFont typeface="Arial" panose="020B0604020202020204" pitchFamily="34" charset="0"/>
              <a:buNone/>
              <a:defRPr/>
            </a:pPr>
            <a:r>
              <a:rPr lang="en-US" b="1" dirty="0"/>
              <a:t>Organize the backlog</a:t>
            </a:r>
            <a:r>
              <a:rPr lang="en-US" dirty="0" smtClean="0"/>
              <a:t>:</a:t>
            </a:r>
          </a:p>
          <a:p>
            <a:pPr algn="just" fontAlgn="auto">
              <a:spcAft>
                <a:spcPts val="0"/>
              </a:spcAft>
              <a:defRPr/>
            </a:pPr>
            <a:r>
              <a:rPr lang="en-US" dirty="0" smtClean="0"/>
              <a:t> </a:t>
            </a:r>
            <a:r>
              <a:rPr lang="en-US" dirty="0"/>
              <a:t>Sometimes known as backlog grooming, this event is the responsibility of the product owner. </a:t>
            </a:r>
            <a:endParaRPr lang="en-US" dirty="0" smtClean="0"/>
          </a:p>
          <a:p>
            <a:pPr algn="just" fontAlgn="auto">
              <a:spcAft>
                <a:spcPts val="0"/>
              </a:spcAft>
              <a:defRPr/>
            </a:pPr>
            <a:r>
              <a:rPr lang="en-US" dirty="0" smtClean="0"/>
              <a:t>The </a:t>
            </a:r>
            <a:r>
              <a:rPr lang="en-US" dirty="0"/>
              <a:t>product owner’s main jobs are to drive the product towards its product vision and have a constant pulse on the market and the customer. </a:t>
            </a:r>
            <a:endParaRPr lang="en-US" dirty="0" smtClean="0"/>
          </a:p>
          <a:p>
            <a:pPr algn="just" fontAlgn="auto">
              <a:spcAft>
                <a:spcPts val="0"/>
              </a:spcAft>
              <a:defRPr/>
            </a:pPr>
            <a:r>
              <a:rPr lang="en-US" dirty="0" smtClean="0"/>
              <a:t>Therefore</a:t>
            </a:r>
            <a:r>
              <a:rPr lang="en-US" dirty="0"/>
              <a:t>, he/she maintains this list using feedback from users and the development team to help prioritize and keep the list clean and ready to be worked on at any given </a:t>
            </a:r>
            <a:r>
              <a:rPr lang="en-US" dirty="0" smtClean="0"/>
              <a:t>time</a:t>
            </a:r>
            <a:endParaRPr lang="en-US" dirty="0"/>
          </a:p>
          <a:p>
            <a:pPr algn="just" fontAlgn="auto">
              <a:spcAft>
                <a:spcPts val="0"/>
              </a:spcAft>
              <a:defRPr/>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5788"/>
          </a:xfrm>
        </p:spPr>
        <p:txBody>
          <a:bodyPr rtlCol="0">
            <a:normAutofit fontScale="90000"/>
          </a:bodyPr>
          <a:lstStyle/>
          <a:p>
            <a:pPr fontAlgn="auto">
              <a:spcAft>
                <a:spcPts val="0"/>
              </a:spcAft>
              <a:defRPr/>
            </a:pPr>
            <a:r>
              <a:rPr lang="en-US" dirty="0"/>
              <a:t>key events</a:t>
            </a:r>
            <a:r>
              <a:rPr lang="en-US" dirty="0" smtClean="0"/>
              <a:t> </a:t>
            </a:r>
            <a:r>
              <a:rPr lang="en-US" dirty="0"/>
              <a:t>a scrum team might partake in</a:t>
            </a:r>
          </a:p>
        </p:txBody>
      </p:sp>
      <p:sp>
        <p:nvSpPr>
          <p:cNvPr id="3" name="Content Placeholder 2"/>
          <p:cNvSpPr>
            <a:spLocks noGrp="1"/>
          </p:cNvSpPr>
          <p:nvPr>
            <p:ph idx="1"/>
          </p:nvPr>
        </p:nvSpPr>
        <p:spPr>
          <a:xfrm>
            <a:off x="838200" y="950913"/>
            <a:ext cx="10515600" cy="5226050"/>
          </a:xfrm>
        </p:spPr>
        <p:txBody>
          <a:bodyPr rtlCol="0">
            <a:normAutofit lnSpcReduction="10000"/>
          </a:bodyPr>
          <a:lstStyle/>
          <a:p>
            <a:pPr marL="0" indent="0" algn="just" fontAlgn="auto">
              <a:spcAft>
                <a:spcPts val="0"/>
              </a:spcAft>
              <a:buFont typeface="Arial" panose="020B0604020202020204" pitchFamily="34" charset="0"/>
              <a:buNone/>
              <a:defRPr/>
            </a:pPr>
            <a:r>
              <a:rPr lang="en-US" b="1" dirty="0"/>
              <a:t>Sprint </a:t>
            </a:r>
            <a:r>
              <a:rPr lang="en-US" b="1" dirty="0" smtClean="0"/>
              <a:t>planning</a:t>
            </a:r>
            <a:r>
              <a:rPr lang="en-US" dirty="0" smtClean="0"/>
              <a:t>:</a:t>
            </a:r>
          </a:p>
          <a:p>
            <a:pPr algn="just" fontAlgn="auto">
              <a:spcAft>
                <a:spcPts val="0"/>
              </a:spcAft>
              <a:defRPr/>
            </a:pPr>
            <a:r>
              <a:rPr lang="en-US" dirty="0" smtClean="0"/>
              <a:t> </a:t>
            </a:r>
            <a:r>
              <a:rPr lang="en-US" dirty="0"/>
              <a:t>The work to be performed (scope) during the current </a:t>
            </a:r>
            <a:r>
              <a:rPr lang="en-US" dirty="0">
                <a:hlinkClick r:id="rId2"/>
              </a:rPr>
              <a:t>sprint</a:t>
            </a:r>
            <a:r>
              <a:rPr lang="en-US" dirty="0"/>
              <a:t> is planned during this meeting by the entire development team. </a:t>
            </a:r>
            <a:endParaRPr lang="en-US" dirty="0" smtClean="0"/>
          </a:p>
          <a:p>
            <a:pPr algn="just" fontAlgn="auto">
              <a:spcAft>
                <a:spcPts val="0"/>
              </a:spcAft>
              <a:defRPr/>
            </a:pPr>
            <a:r>
              <a:rPr lang="en-US" dirty="0" smtClean="0"/>
              <a:t>This </a:t>
            </a:r>
            <a:r>
              <a:rPr lang="en-US" dirty="0"/>
              <a:t>meeting is led by the scrum master and is where the team decides on the sprint goal</a:t>
            </a:r>
            <a:r>
              <a:rPr lang="en-US" dirty="0" smtClean="0"/>
              <a:t>.</a:t>
            </a:r>
          </a:p>
          <a:p>
            <a:pPr algn="just" fontAlgn="auto">
              <a:spcAft>
                <a:spcPts val="0"/>
              </a:spcAft>
              <a:defRPr/>
            </a:pPr>
            <a:r>
              <a:rPr lang="en-US" dirty="0" smtClean="0"/>
              <a:t> </a:t>
            </a:r>
            <a:r>
              <a:rPr lang="en-US" dirty="0"/>
              <a:t>Specific use stories are then added to the sprint from the product backlog. </a:t>
            </a:r>
            <a:endParaRPr lang="en-US" dirty="0" smtClean="0"/>
          </a:p>
          <a:p>
            <a:pPr algn="just" fontAlgn="auto">
              <a:spcAft>
                <a:spcPts val="0"/>
              </a:spcAft>
              <a:defRPr/>
            </a:pPr>
            <a:r>
              <a:rPr lang="en-US" dirty="0"/>
              <a:t> These stories always align with the goal and are also agreed upon by the scrum team to be feasible to implement during the sprint</a:t>
            </a:r>
            <a:r>
              <a:rPr lang="en-US" dirty="0" smtClean="0"/>
              <a:t>.</a:t>
            </a:r>
          </a:p>
          <a:p>
            <a:pPr marL="0" indent="0" algn="just" fontAlgn="auto">
              <a:spcAft>
                <a:spcPts val="0"/>
              </a:spcAft>
              <a:buFont typeface="Arial" panose="020B0604020202020204" pitchFamily="34" charset="0"/>
              <a:buNone/>
              <a:defRPr/>
            </a:pPr>
            <a:r>
              <a:rPr lang="en-US" dirty="0"/>
              <a:t>At the end of the planning meeting, every scrum member needs to be clear on what can be delivered in the sprint and how the increment can be delivered.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5788"/>
          </a:xfrm>
        </p:spPr>
        <p:txBody>
          <a:bodyPr rtlCol="0">
            <a:normAutofit fontScale="90000"/>
          </a:bodyPr>
          <a:lstStyle/>
          <a:p>
            <a:pPr fontAlgn="auto">
              <a:spcAft>
                <a:spcPts val="0"/>
              </a:spcAft>
              <a:defRPr/>
            </a:pPr>
            <a:r>
              <a:rPr lang="en-US" dirty="0"/>
              <a:t>key events</a:t>
            </a:r>
            <a:r>
              <a:rPr lang="en-US" dirty="0" smtClean="0"/>
              <a:t> </a:t>
            </a:r>
            <a:r>
              <a:rPr lang="en-US" dirty="0"/>
              <a:t>a scrum team might partake in</a:t>
            </a:r>
          </a:p>
        </p:txBody>
      </p:sp>
      <p:sp>
        <p:nvSpPr>
          <p:cNvPr id="3" name="Content Placeholder 2"/>
          <p:cNvSpPr>
            <a:spLocks noGrp="1"/>
          </p:cNvSpPr>
          <p:nvPr>
            <p:ph idx="1"/>
          </p:nvPr>
        </p:nvSpPr>
        <p:spPr>
          <a:xfrm>
            <a:off x="838200" y="950913"/>
            <a:ext cx="10515600" cy="5226050"/>
          </a:xfrm>
        </p:spPr>
        <p:txBody>
          <a:bodyPr rtlCol="0">
            <a:normAutofit lnSpcReduction="10000"/>
          </a:bodyPr>
          <a:lstStyle/>
          <a:p>
            <a:pPr marL="0" indent="0" algn="just" fontAlgn="auto">
              <a:spcAft>
                <a:spcPts val="0"/>
              </a:spcAft>
              <a:buFont typeface="Arial" panose="020B0604020202020204" pitchFamily="34" charset="0"/>
              <a:buNone/>
              <a:defRPr/>
            </a:pPr>
            <a:r>
              <a:rPr lang="en-US" b="1" dirty="0"/>
              <a:t>Sprint </a:t>
            </a:r>
            <a:r>
              <a:rPr lang="en-US" b="1" dirty="0" smtClean="0"/>
              <a:t>:</a:t>
            </a:r>
          </a:p>
          <a:p>
            <a:pPr algn="just" fontAlgn="auto">
              <a:spcAft>
                <a:spcPts val="0"/>
              </a:spcAft>
              <a:defRPr/>
            </a:pPr>
            <a:r>
              <a:rPr lang="en-US" dirty="0"/>
              <a:t>A sprint is the actual time period when the scrum team works together to finish an increment. </a:t>
            </a:r>
            <a:endParaRPr lang="en-US" dirty="0" smtClean="0"/>
          </a:p>
          <a:p>
            <a:pPr algn="just" fontAlgn="auto">
              <a:spcAft>
                <a:spcPts val="0"/>
              </a:spcAft>
              <a:defRPr/>
            </a:pPr>
            <a:r>
              <a:rPr lang="en-US" dirty="0" smtClean="0"/>
              <a:t>Two </a:t>
            </a:r>
            <a:r>
              <a:rPr lang="en-US" dirty="0"/>
              <a:t>weeks is a pretty typical length for a sprint, though some teams find a week to be easier to scope or a month to be easier to deliver a valuable increment. </a:t>
            </a:r>
            <a:endParaRPr lang="en-US" dirty="0" smtClean="0"/>
          </a:p>
          <a:p>
            <a:pPr algn="just" fontAlgn="auto">
              <a:spcAft>
                <a:spcPts val="0"/>
              </a:spcAft>
              <a:defRPr/>
            </a:pPr>
            <a:r>
              <a:rPr lang="en-US" dirty="0" smtClean="0"/>
              <a:t>Dave </a:t>
            </a:r>
            <a:r>
              <a:rPr lang="en-US" dirty="0"/>
              <a:t>West, from Scrum.org advises that the </a:t>
            </a:r>
            <a:r>
              <a:rPr lang="en-US" dirty="0" smtClean="0"/>
              <a:t>“more </a:t>
            </a:r>
            <a:r>
              <a:rPr lang="en-US" dirty="0"/>
              <a:t>complex the work and the more unknowns, the shorter the sprint should be. But it’s really up to your team, and you shouldn’t be afraid to change it if it’s not working! </a:t>
            </a:r>
            <a:r>
              <a:rPr lang="en-US" dirty="0" smtClean="0"/>
              <a:t>“</a:t>
            </a:r>
          </a:p>
          <a:p>
            <a:pPr algn="just" fontAlgn="auto">
              <a:spcAft>
                <a:spcPts val="0"/>
              </a:spcAft>
              <a:defRPr/>
            </a:pPr>
            <a:r>
              <a:rPr lang="en-US" dirty="0" smtClean="0"/>
              <a:t>During </a:t>
            </a:r>
            <a:r>
              <a:rPr lang="en-US" dirty="0"/>
              <a:t>this period, the scope can be re-negotiated between the product owner and the development team if necessary. This forms the crux of the empirical nature of scrum.</a:t>
            </a:r>
            <a:endParaRPr lang="en-US" b="1" dirty="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5788"/>
          </a:xfrm>
        </p:spPr>
        <p:txBody>
          <a:bodyPr rtlCol="0">
            <a:normAutofit fontScale="90000"/>
          </a:bodyPr>
          <a:lstStyle/>
          <a:p>
            <a:pPr fontAlgn="auto">
              <a:spcAft>
                <a:spcPts val="0"/>
              </a:spcAft>
              <a:defRPr/>
            </a:pPr>
            <a:r>
              <a:rPr lang="en-US" dirty="0"/>
              <a:t>key events</a:t>
            </a:r>
            <a:r>
              <a:rPr lang="en-US" dirty="0" smtClean="0"/>
              <a:t> </a:t>
            </a:r>
            <a:r>
              <a:rPr lang="en-US" dirty="0"/>
              <a:t>a scrum team might partake in</a:t>
            </a:r>
          </a:p>
        </p:txBody>
      </p:sp>
      <p:sp>
        <p:nvSpPr>
          <p:cNvPr id="3" name="Content Placeholder 2"/>
          <p:cNvSpPr>
            <a:spLocks noGrp="1"/>
          </p:cNvSpPr>
          <p:nvPr>
            <p:ph idx="1"/>
          </p:nvPr>
        </p:nvSpPr>
        <p:spPr>
          <a:xfrm>
            <a:off x="838200" y="950913"/>
            <a:ext cx="10515600" cy="5226050"/>
          </a:xfrm>
        </p:spPr>
        <p:txBody>
          <a:bodyPr rtlCol="0">
            <a:normAutofit fontScale="70000" lnSpcReduction="20000"/>
          </a:bodyPr>
          <a:lstStyle/>
          <a:p>
            <a:pPr marL="0" indent="0" algn="just" fontAlgn="auto">
              <a:spcAft>
                <a:spcPts val="0"/>
              </a:spcAft>
              <a:buFont typeface="Arial" panose="020B0604020202020204" pitchFamily="34" charset="0"/>
              <a:buNone/>
              <a:defRPr/>
            </a:pPr>
            <a:r>
              <a:rPr lang="en-US" b="1" dirty="0"/>
              <a:t>Daily scrum or </a:t>
            </a:r>
            <a:r>
              <a:rPr lang="en-US" b="1" dirty="0" smtClean="0"/>
              <a:t>stand up:</a:t>
            </a:r>
          </a:p>
          <a:p>
            <a:pPr marL="0" indent="0" algn="just" fontAlgn="auto">
              <a:spcAft>
                <a:spcPts val="0"/>
              </a:spcAft>
              <a:buFont typeface="Arial" panose="020B0604020202020204" pitchFamily="34" charset="0"/>
              <a:buNone/>
              <a:defRPr/>
            </a:pPr>
            <a:r>
              <a:rPr lang="en-US" dirty="0"/>
              <a:t>This is a daily super-short meeting that happens at the same time (usually mornings) and place to keep it simple. </a:t>
            </a:r>
            <a:endParaRPr lang="en-US" dirty="0" smtClean="0"/>
          </a:p>
          <a:p>
            <a:pPr marL="0" indent="0" algn="just" fontAlgn="auto">
              <a:spcAft>
                <a:spcPts val="0"/>
              </a:spcAft>
              <a:buFont typeface="Arial" panose="020B0604020202020204" pitchFamily="34" charset="0"/>
              <a:buNone/>
              <a:defRPr/>
            </a:pPr>
            <a:r>
              <a:rPr lang="en-US" dirty="0" smtClean="0"/>
              <a:t>Many </a:t>
            </a:r>
            <a:r>
              <a:rPr lang="en-US" dirty="0"/>
              <a:t>teams try to complete the meeting in 15 minutes, but that’s just a guideline. This meeting is also called a ‘</a:t>
            </a:r>
            <a:r>
              <a:rPr lang="en-US" b="1" dirty="0"/>
              <a:t>daily stand-up</a:t>
            </a:r>
            <a:r>
              <a:rPr lang="en-US" dirty="0"/>
              <a:t>’ emphasizing that it needs to be a quick one. </a:t>
            </a:r>
            <a:endParaRPr lang="en-US" dirty="0" smtClean="0"/>
          </a:p>
          <a:p>
            <a:pPr marL="0" indent="0" algn="just" fontAlgn="auto">
              <a:spcAft>
                <a:spcPts val="0"/>
              </a:spcAft>
              <a:buFont typeface="Arial" panose="020B0604020202020204" pitchFamily="34" charset="0"/>
              <a:buNone/>
              <a:defRPr/>
            </a:pPr>
            <a:r>
              <a:rPr lang="en-US" dirty="0" smtClean="0"/>
              <a:t>The </a:t>
            </a:r>
            <a:r>
              <a:rPr lang="en-US" dirty="0"/>
              <a:t>goal of the daily scrum is for everyone on the team to be on the same page, aligned with the sprint goal, and to get a plan out for the next 24 hours.</a:t>
            </a:r>
            <a:br>
              <a:rPr lang="en-US" dirty="0"/>
            </a:br>
            <a:r>
              <a:rPr lang="en-US" dirty="0"/>
              <a:t/>
            </a:r>
            <a:br>
              <a:rPr lang="en-US" dirty="0"/>
            </a:br>
            <a:r>
              <a:rPr lang="en-US" b="1" dirty="0"/>
              <a:t>The stand up is the time to voice any concerns you have with meeting the sprint goal or any blockers.</a:t>
            </a:r>
            <a:r>
              <a:rPr lang="en-US" dirty="0"/>
              <a:t/>
            </a:r>
            <a:br>
              <a:rPr lang="en-US" dirty="0"/>
            </a:br>
            <a:r>
              <a:rPr lang="en-US" dirty="0"/>
              <a:t/>
            </a:r>
            <a:br>
              <a:rPr lang="en-US" dirty="0"/>
            </a:br>
            <a:r>
              <a:rPr lang="en-US" dirty="0"/>
              <a:t>A common way to conduct a stand up is for every team member to answers three questions in the context of achieving the sprint goal</a:t>
            </a:r>
            <a:r>
              <a:rPr lang="en-US" dirty="0" smtClean="0"/>
              <a:t>:</a:t>
            </a:r>
          </a:p>
          <a:p>
            <a:pPr marL="0" indent="0" algn="just" fontAlgn="auto">
              <a:spcAft>
                <a:spcPts val="0"/>
              </a:spcAft>
              <a:buFont typeface="Arial" panose="020B0604020202020204" pitchFamily="34" charset="0"/>
              <a:buNone/>
              <a:defRPr/>
            </a:pPr>
            <a:r>
              <a:rPr lang="en-US" dirty="0"/>
              <a:t/>
            </a:r>
            <a:br>
              <a:rPr lang="en-US" dirty="0"/>
            </a:br>
            <a:r>
              <a:rPr lang="en-US" dirty="0"/>
              <a:t>•      What did I do yesterday</a:t>
            </a:r>
            <a:r>
              <a:rPr lang="en-US" dirty="0" smtClean="0"/>
              <a:t>?</a:t>
            </a:r>
          </a:p>
          <a:p>
            <a:pPr marL="0" indent="0" algn="just" fontAlgn="auto">
              <a:spcAft>
                <a:spcPts val="0"/>
              </a:spcAft>
              <a:buFont typeface="Arial" panose="020B0604020202020204" pitchFamily="34" charset="0"/>
              <a:buNone/>
              <a:defRPr/>
            </a:pPr>
            <a:r>
              <a:rPr lang="en-US" dirty="0"/>
              <a:t/>
            </a:r>
            <a:br>
              <a:rPr lang="en-US" dirty="0"/>
            </a:br>
            <a:r>
              <a:rPr lang="en-US" dirty="0"/>
              <a:t>•      What do I plan to do today</a:t>
            </a:r>
            <a:r>
              <a:rPr lang="en-US" dirty="0" smtClean="0"/>
              <a:t>?</a:t>
            </a:r>
          </a:p>
          <a:p>
            <a:pPr marL="0" indent="0" algn="just" fontAlgn="auto">
              <a:spcAft>
                <a:spcPts val="0"/>
              </a:spcAft>
              <a:buFont typeface="Arial" panose="020B0604020202020204" pitchFamily="34" charset="0"/>
              <a:buNone/>
              <a:defRPr/>
            </a:pPr>
            <a:r>
              <a:rPr lang="en-US" dirty="0"/>
              <a:t/>
            </a:r>
            <a:br>
              <a:rPr lang="en-US" dirty="0"/>
            </a:br>
            <a:r>
              <a:rPr lang="en-US" dirty="0"/>
              <a:t>•      Are there any obstacles?</a:t>
            </a:r>
            <a:endParaRPr lang="en-US" b="1" dirty="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5788"/>
          </a:xfrm>
        </p:spPr>
        <p:txBody>
          <a:bodyPr rtlCol="0">
            <a:normAutofit fontScale="90000"/>
          </a:bodyPr>
          <a:lstStyle/>
          <a:p>
            <a:pPr fontAlgn="auto">
              <a:spcAft>
                <a:spcPts val="0"/>
              </a:spcAft>
              <a:defRPr/>
            </a:pPr>
            <a:r>
              <a:rPr lang="en-US" dirty="0"/>
              <a:t>key events</a:t>
            </a:r>
            <a:r>
              <a:rPr lang="en-US" dirty="0" smtClean="0"/>
              <a:t> </a:t>
            </a:r>
            <a:r>
              <a:rPr lang="en-US" dirty="0"/>
              <a:t>a scrum team might partake in</a:t>
            </a:r>
          </a:p>
        </p:txBody>
      </p:sp>
      <p:sp>
        <p:nvSpPr>
          <p:cNvPr id="3" name="Content Placeholder 2"/>
          <p:cNvSpPr>
            <a:spLocks noGrp="1"/>
          </p:cNvSpPr>
          <p:nvPr>
            <p:ph idx="1"/>
          </p:nvPr>
        </p:nvSpPr>
        <p:spPr>
          <a:xfrm>
            <a:off x="838200" y="950913"/>
            <a:ext cx="10515600" cy="5226050"/>
          </a:xfrm>
        </p:spPr>
        <p:txBody>
          <a:bodyPr rtlCol="0">
            <a:normAutofit lnSpcReduction="10000"/>
          </a:bodyPr>
          <a:lstStyle/>
          <a:p>
            <a:pPr algn="just">
              <a:spcAft>
                <a:spcPts val="0"/>
              </a:spcAft>
              <a:defRPr/>
            </a:pPr>
            <a:r>
              <a:rPr lang="en-US" b="1" dirty="0"/>
              <a:t>Sprint review</a:t>
            </a:r>
            <a:r>
              <a:rPr lang="en-US" dirty="0"/>
              <a:t>: </a:t>
            </a:r>
            <a:endParaRPr lang="en-US" dirty="0" smtClean="0"/>
          </a:p>
          <a:p>
            <a:pPr algn="just">
              <a:spcAft>
                <a:spcPts val="0"/>
              </a:spcAft>
              <a:defRPr/>
            </a:pPr>
            <a:r>
              <a:rPr lang="en-US" dirty="0" smtClean="0"/>
              <a:t>At </a:t>
            </a:r>
            <a:r>
              <a:rPr lang="en-US" dirty="0"/>
              <a:t>the end of the sprint, the team gets together for an informal session to view a demo of, or inspect, the increment. </a:t>
            </a:r>
            <a:endParaRPr lang="en-US" dirty="0" smtClean="0"/>
          </a:p>
          <a:p>
            <a:pPr algn="just">
              <a:spcAft>
                <a:spcPts val="0"/>
              </a:spcAft>
              <a:defRPr/>
            </a:pPr>
            <a:r>
              <a:rPr lang="en-US" dirty="0" smtClean="0"/>
              <a:t>The </a:t>
            </a:r>
            <a:r>
              <a:rPr lang="en-US" dirty="0"/>
              <a:t>development team showcases the backlog items that are now ‘Done’ to stakeholders and teammates for feedback</a:t>
            </a:r>
            <a:r>
              <a:rPr lang="en-US" dirty="0" smtClean="0"/>
              <a:t>.</a:t>
            </a:r>
          </a:p>
          <a:p>
            <a:pPr algn="just">
              <a:spcAft>
                <a:spcPts val="0"/>
              </a:spcAft>
              <a:defRPr/>
            </a:pPr>
            <a:r>
              <a:rPr lang="en-US" dirty="0" smtClean="0"/>
              <a:t> </a:t>
            </a:r>
            <a:r>
              <a:rPr lang="en-US" dirty="0"/>
              <a:t>The product owner can decide whether or not to release the increment, although in most cases the increment is released.</a:t>
            </a:r>
            <a:br>
              <a:rPr lang="en-US" dirty="0"/>
            </a:br>
            <a:r>
              <a:rPr lang="en-US" dirty="0"/>
              <a:t/>
            </a:r>
            <a:br>
              <a:rPr lang="en-US" dirty="0"/>
            </a:br>
            <a:r>
              <a:rPr lang="en-US" dirty="0"/>
              <a:t>This review meeting is also when the product owner reworks the product backlog based on the current sprint, which can feed into the next sprint planning session. </a:t>
            </a:r>
            <a:endParaRPr lang="en-US" dirty="0" smtClean="0"/>
          </a:p>
          <a:p>
            <a:pPr algn="just">
              <a:spcAft>
                <a:spcPts val="0"/>
              </a:spcAft>
              <a:defRPr/>
            </a:pPr>
            <a:r>
              <a:rPr lang="en-US" dirty="0" smtClean="0"/>
              <a:t>For </a:t>
            </a:r>
            <a:r>
              <a:rPr lang="en-US" dirty="0"/>
              <a:t>a one-month sprint, consider time-boxing your sprint review to a maximum of four hours</a:t>
            </a:r>
            <a:r>
              <a:rPr lang="en-US" dirty="0" smtClean="0"/>
              <a:t>.</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5788"/>
          </a:xfrm>
        </p:spPr>
        <p:txBody>
          <a:bodyPr rtlCol="0">
            <a:normAutofit fontScale="90000"/>
          </a:bodyPr>
          <a:lstStyle/>
          <a:p>
            <a:pPr fontAlgn="auto">
              <a:spcAft>
                <a:spcPts val="0"/>
              </a:spcAft>
              <a:defRPr/>
            </a:pPr>
            <a:r>
              <a:rPr lang="en-US" dirty="0"/>
              <a:t>key events</a:t>
            </a:r>
            <a:r>
              <a:rPr lang="en-US" dirty="0" smtClean="0"/>
              <a:t> </a:t>
            </a:r>
            <a:r>
              <a:rPr lang="en-US" dirty="0"/>
              <a:t>a scrum team might partake in</a:t>
            </a:r>
          </a:p>
        </p:txBody>
      </p:sp>
      <p:sp>
        <p:nvSpPr>
          <p:cNvPr id="73731" name="Content Placeholder 2"/>
          <p:cNvSpPr>
            <a:spLocks noGrp="1"/>
          </p:cNvSpPr>
          <p:nvPr>
            <p:ph idx="1"/>
          </p:nvPr>
        </p:nvSpPr>
        <p:spPr>
          <a:xfrm>
            <a:off x="838200" y="950913"/>
            <a:ext cx="10515600" cy="5226050"/>
          </a:xfrm>
        </p:spPr>
        <p:txBody>
          <a:bodyPr/>
          <a:lstStyle/>
          <a:p>
            <a:pPr algn="just"/>
            <a:r>
              <a:rPr lang="en-US" altLang="en-US" b="1" dirty="0" smtClean="0"/>
              <a:t>Sprint retrospective</a:t>
            </a:r>
            <a:r>
              <a:rPr lang="en-US" altLang="en-US" dirty="0" smtClean="0"/>
              <a:t>: </a:t>
            </a:r>
          </a:p>
          <a:p>
            <a:pPr algn="just"/>
            <a:r>
              <a:rPr lang="en-US" altLang="en-US" dirty="0" smtClean="0"/>
              <a:t>The </a:t>
            </a:r>
            <a:r>
              <a:rPr lang="en-US" altLang="en-US" dirty="0" smtClean="0">
                <a:hlinkClick r:id="rId2"/>
              </a:rPr>
              <a:t>retrospective</a:t>
            </a:r>
            <a:r>
              <a:rPr lang="en-US" altLang="en-US" dirty="0" smtClean="0"/>
              <a:t> is where the team comes together to document and discuss what worked and what didn’t work in a sprint, a project, people or relationships, tools, or even for certain ceremonies. </a:t>
            </a:r>
          </a:p>
          <a:p>
            <a:pPr algn="just"/>
            <a:r>
              <a:rPr lang="en-US" altLang="en-US" dirty="0" smtClean="0"/>
              <a:t>The idea is to create a place where the team can focus on what went well and what needs to be improved for the next time, and less about what went wrong.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2" descr="Artifacts in Scrum - Product Backlog, Sprint Backlog, Increment Backlog |  Global SharePoint Dia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027113"/>
            <a:ext cx="10199688" cy="514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17513"/>
          </a:xfrm>
        </p:spPr>
        <p:txBody>
          <a:bodyPr rtlCol="0">
            <a:normAutofit fontScale="90000"/>
          </a:bodyPr>
          <a:lstStyle/>
          <a:p>
            <a:pPr fontAlgn="auto">
              <a:spcAft>
                <a:spcPts val="0"/>
              </a:spcAft>
              <a:defRPr/>
            </a:pPr>
            <a:r>
              <a:rPr lang="en-US" dirty="0"/>
              <a:t>Agile scrum artifacts</a:t>
            </a:r>
            <a:br>
              <a:rPr lang="en-US" dirty="0"/>
            </a:br>
            <a:endParaRPr lang="en-US" dirty="0"/>
          </a:p>
        </p:txBody>
      </p:sp>
      <p:sp>
        <p:nvSpPr>
          <p:cNvPr id="75779" name="Content Placeholder 2"/>
          <p:cNvSpPr>
            <a:spLocks noGrp="1"/>
          </p:cNvSpPr>
          <p:nvPr>
            <p:ph idx="1"/>
          </p:nvPr>
        </p:nvSpPr>
        <p:spPr>
          <a:xfrm>
            <a:off x="838200" y="901700"/>
            <a:ext cx="10515600" cy="5275263"/>
          </a:xfrm>
        </p:spPr>
        <p:txBody>
          <a:bodyPr/>
          <a:lstStyle/>
          <a:p>
            <a:r>
              <a:rPr lang="en-US" altLang="en-US" smtClean="0"/>
              <a:t>Agile scrum artifacts are information that a scrum team and stakeholders use to detail the product being developed, actions to produce it, and the actions performed during the project.  </a:t>
            </a:r>
          </a:p>
          <a:p>
            <a:r>
              <a:rPr lang="en-US" altLang="en-US" smtClean="0"/>
              <a:t>These artifacts provide metadata points that give insight into the performance of a sprint.</a:t>
            </a:r>
          </a:p>
          <a:p>
            <a:r>
              <a:rPr lang="en-US" altLang="en-US" smtClean="0"/>
              <a:t> They are essential tools for every scrum team since they enable core scrum attributes of transparency, inspection, and adaption.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p:txBody>
          <a:bodyPr/>
          <a:lstStyle/>
          <a:p>
            <a:endParaRPr lang="en-US" altLang="en-US" smtClean="0"/>
          </a:p>
        </p:txBody>
      </p:sp>
      <p:sp>
        <p:nvSpPr>
          <p:cNvPr id="3" name="Content Placeholder 2"/>
          <p:cNvSpPr>
            <a:spLocks noGrp="1"/>
          </p:cNvSpPr>
          <p:nvPr>
            <p:ph idx="1"/>
          </p:nvPr>
        </p:nvSpPr>
        <p:spPr/>
        <p:txBody>
          <a:bodyPr rtlCol="0">
            <a:normAutofit/>
          </a:bodyPr>
          <a:lstStyle/>
          <a:p>
            <a:pPr>
              <a:spcAft>
                <a:spcPts val="0"/>
              </a:spcAft>
              <a:defRPr/>
            </a:pPr>
            <a:r>
              <a:rPr lang="en-US" dirty="0"/>
              <a:t>Artifacts are created during the main activities of a scrum </a:t>
            </a:r>
            <a:r>
              <a:rPr lang="en-US" dirty="0">
                <a:hlinkClick r:id="rId2"/>
              </a:rPr>
              <a:t>sprint</a:t>
            </a:r>
            <a:r>
              <a:rPr lang="en-US" dirty="0"/>
              <a:t>: </a:t>
            </a:r>
          </a:p>
          <a:p>
            <a:pPr>
              <a:spcAft>
                <a:spcPts val="0"/>
              </a:spcAft>
              <a:defRPr/>
            </a:pPr>
            <a:r>
              <a:rPr lang="en-US" dirty="0"/>
              <a:t>Plan work and future goals</a:t>
            </a:r>
          </a:p>
          <a:p>
            <a:pPr>
              <a:spcAft>
                <a:spcPts val="0"/>
              </a:spcAft>
              <a:defRPr/>
            </a:pPr>
            <a:r>
              <a:rPr lang="en-US" dirty="0"/>
              <a:t>Create tasks to achieve these goals</a:t>
            </a:r>
          </a:p>
          <a:p>
            <a:pPr>
              <a:spcAft>
                <a:spcPts val="0"/>
              </a:spcAft>
              <a:defRPr/>
            </a:pPr>
            <a:r>
              <a:rPr lang="en-US" dirty="0"/>
              <a:t>Organize tasks into sprints based on dependency and priority</a:t>
            </a:r>
          </a:p>
          <a:p>
            <a:pPr>
              <a:spcAft>
                <a:spcPts val="0"/>
              </a:spcAft>
              <a:defRPr/>
            </a:pPr>
            <a:r>
              <a:rPr lang="en-US" dirty="0"/>
              <a:t>Execute the tasks</a:t>
            </a:r>
          </a:p>
          <a:p>
            <a:pPr>
              <a:spcAft>
                <a:spcPts val="0"/>
              </a:spcAft>
              <a:defRPr/>
            </a:pPr>
            <a:r>
              <a:rPr lang="en-US" dirty="0"/>
              <a:t>Review and analyze results in order to compare to the goals</a:t>
            </a:r>
          </a:p>
          <a:p>
            <a:pPr>
              <a:spcAft>
                <a:spcPts val="0"/>
              </a:spcAft>
              <a:defRPr/>
            </a:pPr>
            <a:r>
              <a:rPr lang="en-US" dirty="0"/>
              <a:t>Repeat these steps</a:t>
            </a:r>
          </a:p>
          <a:p>
            <a:pPr marL="0" indent="0" fontAlgn="auto">
              <a:spcAft>
                <a:spcPts val="0"/>
              </a:spcAft>
              <a:buFont typeface="Arial" panose="020B0604020202020204" pitchFamily="34" charset="0"/>
              <a:buNone/>
              <a:defRPr/>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rtlCol="0">
            <a:normAutofit fontScale="90000"/>
          </a:bodyPr>
          <a:lstStyle/>
          <a:p>
            <a:pPr>
              <a:spcAft>
                <a:spcPts val="0"/>
              </a:spcAft>
              <a:defRPr/>
            </a:pPr>
            <a:r>
              <a:rPr lang="en-US"/>
              <a:t>The main artifacts of agile scrum</a:t>
            </a:r>
          </a:p>
        </p:txBody>
      </p:sp>
      <p:pic>
        <p:nvPicPr>
          <p:cNvPr id="77827"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563688" y="1506538"/>
            <a:ext cx="7748587" cy="4429125"/>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altLang="en-US" smtClean="0"/>
              <a:t>Product backlog</a:t>
            </a:r>
            <a:br>
              <a:rPr lang="en-US" altLang="en-US" smtClean="0"/>
            </a:br>
            <a:endParaRPr lang="en-US" altLang="en-US" smtClean="0"/>
          </a:p>
        </p:txBody>
      </p:sp>
      <p:sp>
        <p:nvSpPr>
          <p:cNvPr id="78851" name="Content Placeholder 2"/>
          <p:cNvSpPr>
            <a:spLocks noGrp="1"/>
          </p:cNvSpPr>
          <p:nvPr>
            <p:ph idx="1"/>
          </p:nvPr>
        </p:nvSpPr>
        <p:spPr/>
        <p:txBody>
          <a:bodyPr/>
          <a:lstStyle/>
          <a:p>
            <a:r>
              <a:rPr lang="en-US" altLang="en-US" smtClean="0"/>
              <a:t>The </a:t>
            </a:r>
            <a:r>
              <a:rPr lang="en-US" altLang="en-US" smtClean="0">
                <a:hlinkClick r:id="rId2"/>
              </a:rPr>
              <a:t>product backlog</a:t>
            </a:r>
            <a:r>
              <a:rPr lang="en-US" altLang="en-US" smtClean="0"/>
              <a:t> is a list of new features, enhancements, bug fixes, tasks, or work requirements needed to build a product. It’s compiled from input sources like customer support, competitor analysis, market demands, and general business analysis.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p:txBody>
          <a:bodyPr/>
          <a:lstStyle/>
          <a:p>
            <a:r>
              <a:rPr lang="en-US" altLang="en-US" smtClean="0"/>
              <a:t>Sprint backlog</a:t>
            </a:r>
            <a:br>
              <a:rPr lang="en-US" altLang="en-US" smtClean="0"/>
            </a:br>
            <a:endParaRPr lang="en-US" altLang="en-US" smtClean="0"/>
          </a:p>
        </p:txBody>
      </p:sp>
      <p:sp>
        <p:nvSpPr>
          <p:cNvPr id="79875" name="Content Placeholder 2"/>
          <p:cNvSpPr>
            <a:spLocks noGrp="1"/>
          </p:cNvSpPr>
          <p:nvPr>
            <p:ph idx="1"/>
          </p:nvPr>
        </p:nvSpPr>
        <p:spPr/>
        <p:txBody>
          <a:bodyPr/>
          <a:lstStyle/>
          <a:p>
            <a:r>
              <a:rPr lang="en-US" altLang="en-US" smtClean="0"/>
              <a:t>The sprint backlog is a set of product backlog tasks that have been promoted to be developed during the next product increment. </a:t>
            </a:r>
          </a:p>
          <a:p>
            <a:r>
              <a:rPr lang="en-US" altLang="en-US" smtClean="0"/>
              <a:t>Sprint backlogs are created by the development teams to plan deliverables for future increments and detail the work required to create the increment.  </a:t>
            </a:r>
          </a:p>
          <a:p>
            <a:r>
              <a:rPr lang="en-US" altLang="en-US" smtClean="0"/>
              <a:t>Sprint backlogs are created by selecting a task from the product backlog and breaking that task into smaller, actionable sprint items.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endParaRPr lang="en-US" altLang="en-US" smtClean="0"/>
          </a:p>
        </p:txBody>
      </p:sp>
      <p:sp>
        <p:nvSpPr>
          <p:cNvPr id="80899" name="Content Placeholder 2"/>
          <p:cNvSpPr>
            <a:spLocks noGrp="1"/>
          </p:cNvSpPr>
          <p:nvPr>
            <p:ph idx="1"/>
          </p:nvPr>
        </p:nvSpPr>
        <p:spPr/>
        <p:txBody>
          <a:bodyPr/>
          <a:lstStyle/>
          <a:p>
            <a:r>
              <a:rPr lang="en-US" altLang="en-US" smtClean="0"/>
              <a:t>Consider an example task like “build a shopping cart page”, which requires many design and development subtasks. </a:t>
            </a:r>
          </a:p>
          <a:p>
            <a:r>
              <a:rPr lang="en-US" altLang="en-US" smtClean="0"/>
              <a:t>The product backlog is home to the primary task while the supporting tasks like “create a shopping cart visual design mockup” or “program the shopping cart sessions” are housed in the sprint backlog.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a:lstStyle/>
          <a:p>
            <a:endParaRPr lang="en-US" altLang="en-US" smtClean="0"/>
          </a:p>
        </p:txBody>
      </p:sp>
      <p:sp>
        <p:nvSpPr>
          <p:cNvPr id="81923" name="Content Placeholder 2"/>
          <p:cNvSpPr>
            <a:spLocks noGrp="1"/>
          </p:cNvSpPr>
          <p:nvPr>
            <p:ph idx="1"/>
          </p:nvPr>
        </p:nvSpPr>
        <p:spPr/>
        <p:txBody>
          <a:bodyPr/>
          <a:lstStyle/>
          <a:p>
            <a:r>
              <a:rPr lang="en-US" altLang="en-US" smtClean="0"/>
              <a:t>The sprint backlog is updated during the </a:t>
            </a:r>
            <a:r>
              <a:rPr lang="en-US" altLang="en-US" smtClean="0">
                <a:hlinkClick r:id="rId2"/>
              </a:rPr>
              <a:t>sprint planning</a:t>
            </a:r>
            <a:r>
              <a:rPr lang="en-US" altLang="en-US" smtClean="0"/>
              <a:t> phase of scrum. </a:t>
            </a:r>
          </a:p>
          <a:p>
            <a:r>
              <a:rPr lang="en-US" altLang="en-US" smtClean="0"/>
              <a:t>The smaller sprint tasks are assigned to the relevant teams like design and development. </a:t>
            </a:r>
          </a:p>
          <a:p>
            <a:r>
              <a:rPr lang="en-US" altLang="en-US" smtClean="0"/>
              <a:t>If a team does not have the capacity to deliver all the sprint tasks, the remaining sprint tasks will standby in the sprint backlog for a future sprint.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3738"/>
          </a:xfrm>
        </p:spPr>
        <p:txBody>
          <a:bodyPr rtlCol="0">
            <a:normAutofit fontScale="90000"/>
          </a:bodyPr>
          <a:lstStyle/>
          <a:p>
            <a:pPr>
              <a:spcAft>
                <a:spcPts val="0"/>
              </a:spcAft>
              <a:defRPr/>
            </a:pPr>
            <a:r>
              <a:rPr lang="en-US"/>
              <a:t>Product increment</a:t>
            </a:r>
          </a:p>
        </p:txBody>
      </p:sp>
      <p:sp>
        <p:nvSpPr>
          <p:cNvPr id="82947" name="Content Placeholder 2"/>
          <p:cNvSpPr>
            <a:spLocks noGrp="1"/>
          </p:cNvSpPr>
          <p:nvPr>
            <p:ph idx="1"/>
          </p:nvPr>
        </p:nvSpPr>
        <p:spPr>
          <a:xfrm>
            <a:off x="838200" y="1214438"/>
            <a:ext cx="10515600" cy="4962525"/>
          </a:xfrm>
        </p:spPr>
        <p:txBody>
          <a:bodyPr/>
          <a:lstStyle/>
          <a:p>
            <a:r>
              <a:rPr lang="en-US" altLang="en-US" smtClean="0"/>
              <a:t>A product increment is the customer deliverables that were produced by completing product backlog tasks during a sprint. </a:t>
            </a:r>
          </a:p>
          <a:p>
            <a:r>
              <a:rPr lang="en-US" altLang="en-US" smtClean="0"/>
              <a:t>It also includes the increments of all previous sprints. There is always one increment for each sprint and an increment is decided during the scrum planning phase. </a:t>
            </a:r>
          </a:p>
          <a:p>
            <a:r>
              <a:rPr lang="en-US" altLang="en-US" smtClean="0"/>
              <a:t>An increment happens whether the team decides to release to the customer. </a:t>
            </a:r>
          </a:p>
          <a:p>
            <a:r>
              <a:rPr lang="en-US" altLang="en-US" smtClean="0"/>
              <a:t>Product increments are incredibly useful and complementary to CI/CD in version tracking and, if needed, version rollback.</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5175"/>
          </a:xfrm>
        </p:spPr>
        <p:txBody>
          <a:bodyPr rtlCol="0">
            <a:normAutofit fontScale="90000"/>
          </a:bodyPr>
          <a:lstStyle/>
          <a:p>
            <a:pPr fontAlgn="auto">
              <a:spcAft>
                <a:spcPts val="0"/>
              </a:spcAft>
              <a:defRPr/>
            </a:pPr>
            <a:r>
              <a:rPr lang="en-US" dirty="0"/>
              <a:t>Artifact transparency</a:t>
            </a:r>
            <a:br>
              <a:rPr lang="en-US" dirty="0"/>
            </a:br>
            <a:endParaRPr lang="en-US" dirty="0"/>
          </a:p>
        </p:txBody>
      </p:sp>
      <p:sp>
        <p:nvSpPr>
          <p:cNvPr id="83971" name="Content Placeholder 2"/>
          <p:cNvSpPr>
            <a:spLocks noGrp="1"/>
          </p:cNvSpPr>
          <p:nvPr>
            <p:ph idx="1"/>
          </p:nvPr>
        </p:nvSpPr>
        <p:spPr/>
        <p:txBody>
          <a:bodyPr/>
          <a:lstStyle/>
          <a:p>
            <a:r>
              <a:rPr lang="en-US" altLang="en-US" smtClean="0"/>
              <a:t>Scrum artifacts are powerful aids that help teams operate more efficiently. Therefore, it's important all teams have access and visibility into the artifacts. </a:t>
            </a:r>
          </a:p>
          <a:p>
            <a:r>
              <a:rPr lang="en-US" altLang="en-US" smtClean="0"/>
              <a:t>Product owners and scrum masters need to make it a regular practice to review and discuss artifacts with development teams. </a:t>
            </a:r>
          </a:p>
          <a:p>
            <a:r>
              <a:rPr lang="en-US" altLang="en-US" smtClean="0"/>
              <a:t>This will help teams stay aware of operational inefficiencies and produce creative ways to improve velocity.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apter_02 [Compatibility Mode]" id="{41F9A943-D266-4945-B038-9057B238D3F4}" vid="{3F76FBCC-5AA6-4489-97F7-57DA48F654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Chapter_02</Template>
  <TotalTime>41</TotalTime>
  <Words>1435</Words>
  <Application>Microsoft Office PowerPoint</Application>
  <PresentationFormat>Widescreen</PresentationFormat>
  <Paragraphs>107</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Calibri Light</vt:lpstr>
      <vt:lpstr>Office Theme</vt:lpstr>
      <vt:lpstr>PowerPoint Presentation</vt:lpstr>
      <vt:lpstr>Today’s Lecture</vt:lpstr>
      <vt:lpstr>Scrum –in Detail</vt:lpstr>
      <vt:lpstr>PowerPoint Presentation</vt:lpstr>
      <vt:lpstr>PowerPoint Presentation</vt:lpstr>
      <vt:lpstr>PowerPoint Presentation</vt:lpstr>
      <vt:lpstr>Three essential roles for scrum success </vt:lpstr>
      <vt:lpstr>The scrum product owner-Setting clear direction   </vt:lpstr>
      <vt:lpstr>The scrum product owner </vt:lpstr>
      <vt:lpstr>The scrum master-Holding it all together  </vt:lpstr>
      <vt:lpstr>The scrum master-Holding it all together  </vt:lpstr>
      <vt:lpstr>The scrum development team-Redefining “developer”  </vt:lpstr>
      <vt:lpstr>PowerPoint Presentation</vt:lpstr>
      <vt:lpstr>PowerPoint Presentation</vt:lpstr>
      <vt:lpstr>Scrum ceremonies or events</vt:lpstr>
      <vt:lpstr>key events a scrum team might partake in</vt:lpstr>
      <vt:lpstr>key events a scrum team might partake in</vt:lpstr>
      <vt:lpstr>key events a scrum team might partake in</vt:lpstr>
      <vt:lpstr>key events a scrum team might partake in</vt:lpstr>
      <vt:lpstr>key events a scrum team might partake in</vt:lpstr>
      <vt:lpstr>key events a scrum team might partake in</vt:lpstr>
      <vt:lpstr>PowerPoint Presentation</vt:lpstr>
      <vt:lpstr>Agile scrum artifacts </vt:lpstr>
      <vt:lpstr>PowerPoint Presentation</vt:lpstr>
      <vt:lpstr>The main artifacts of agile scrum</vt:lpstr>
      <vt:lpstr>Product backlog </vt:lpstr>
      <vt:lpstr>Sprint backlog </vt:lpstr>
      <vt:lpstr>PowerPoint Presentation</vt:lpstr>
      <vt:lpstr>PowerPoint Presentation</vt:lpstr>
      <vt:lpstr>Product increment</vt:lpstr>
      <vt:lpstr>Artifact transparency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Mahendran</dc:creator>
  <cp:lastModifiedBy>Mahendran</cp:lastModifiedBy>
  <cp:revision>15</cp:revision>
  <cp:lastPrinted>2021-07-14T16:25:45Z</cp:lastPrinted>
  <dcterms:created xsi:type="dcterms:W3CDTF">2023-02-01T06:23:42Z</dcterms:created>
  <dcterms:modified xsi:type="dcterms:W3CDTF">2023-02-01T07:09:19Z</dcterms:modified>
</cp:coreProperties>
</file>